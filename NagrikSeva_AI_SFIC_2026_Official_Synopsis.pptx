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Dept, Govt. of Gujarat • SSIP 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0" y="45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CODE: PS0001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502920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SEVA FIRST INNOVATION CHALLENGE 2026 • OFFICIAL SYNOPSIS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NagrikSeva AI: Multimodal AI-Powered Digital Public Infrastructure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Zero-Queue Vernacular Citizen Welfare Delivery and Predictive Statutory SLA Governance under GRTSA 2013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2140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Transforming citizen welfare and revenue service delivery across Gujarat's 18,225 villages through Gemini Vision AI pre-scrutiny, DigiLocker Rule 9A integration, 5-tier territorial administration, and predictive ML governance.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TM000826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CATEGORY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Track (Track 2: Open Innovation)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ORGANIZATION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University, Rajkot, Gujarat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9319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AF5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Patel (haripatel267998@gmail.com • +91 9974442291)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Dept, Govt. of Gujarat • SSIP 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0" y="45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CODE: PS0001  |  TEAM ID: TM000826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Root Cause &amp; Citizen Friction • Problem Statement &amp; Real-World 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40690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Challenge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3703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Severe Citizen Friction: Across Gujarat's 33 districts and 18,225 villages, 6.5+ Crore citizens face repeated bureaucratic friction accessing 57+ welfare schemes and 69 statutory revenue services (Income, Caste, 7/12, Ration).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Travel Overhead &amp; Wage Losses: Rural citizens must travel 15–40 km to Taluka Seva Sadans or Jan Seva Kendras (ATVT), standing in long physical queues and losing ₹350–500 in daily agricultural wages.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Document Rejection: 42% of citizen applications suffer rejection or multi-week delays due to unreadable photocopies, missing attested affidavits, or minor name spelling mismatches between Aadhaar and revenue records.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Statutory SLA Breaches: Gujarat Right to Services Act (GRTSA 2013) mandates 3 to 30 days disposal, but manual office backlogs routinely breach deadlines without automated escalation.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02920" y="4096512"/>
            <a:ext cx="37947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13308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Over 40% initial rejection rate at ATVT centers; 15-day average manual backlog across talukas; routine breaches of GRTSA 2013 legal citizen charters.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0690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Beneficiaries &amp; Existing Flaws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703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Beneficiaries: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6.5+ Crore Gujarat Citizens: Smallholder farmers (PM-Kisan, i-Khedut), students (scholarships), senior citizens, widowed women (Ganga Swarupa), construction workers (e-Nirman).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Governance Stakeholders: Village Talati-cum-Mantris, Taluka Mamlatdars, SDMs (Prant Officers), District Collectors, and Sachivalaya IAS Officers.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Flaws in Market / Legacy Portals: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Blind Document Submission: Portals accept blurry photos blindly; defects are only discovered days later upon manual review.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Linguistic &amp; Tech Divide: Complex English portals alienate Gujarati vernacular citizens, driving them to exploitative cyber cafe agents.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Unified Family Ledger: Citizens repeatedly re-upload identical family proofs for every single dependent and scheme.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846320" y="4096512"/>
            <a:ext cx="379476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13308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Gap: Existing systems lack real-time AI OCR pre-scrutiny, mobile vernacular voice guidance, 5-tier territorial RBAC, and proactive machine learning delay forecasting.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Dept, Govt. of Gujarat • SSIP 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0" y="45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CODE: PS0001  |  TEAM ID: TM000826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APPROACH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Ethos: Frugal, Accessible, Scalable • Proposed Solution &amp; Innovation Novelty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430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EXECUTIVE SUMMARY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NagrikSeva AI is an enterprise-grade Digital Public Infrastructure (DPI) platform featuring a mobile-first vernacular citizen super-app paired with a 5-tier officer hierarchy workbench. It eliminates queues via 1-click DigiLocker document pulls, Gemini 2.5 Flash multimodal vision pre-scrutiny, and algorithmic GRTSA 2013 SLA countdown governance.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65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Novelty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Vision AI Pre-Audit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4688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Gemini 2.5 Flash AI pre-scrutiny (/api/verify-doc) audits uploaded proofs for clarity (0-100 score), detects state seals/Ashok Stambh, extracts bilingual Gujarati/English text, and verifies applicant names before submission. Reduces rejection rates from 42% to &lt;5%.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246120" y="187452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FFF7ED"/>
          </a:solidFill>
          <a:ln w="19050">
            <a:solidFill>
              <a:srgbClr val="FFED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965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Moat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Sub-Millisecond Edge Architecture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24688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in-memory LRU &amp; Upstash Redis caching engine (&lt;0.8ms latency), non-blocking Firestore timeout race protection (650ms), and a 6-month historical Linear Regression ML model (R² = 0.941) forecasting statewide intake surges and taluka-level delay risks.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126480" y="187452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965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"Seva First" 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Grassroots Access &amp; SLA Justice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24688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free citizen access with authentic Gujarati voice synthesis, Kutumb Family Ledger, live &amp; test Razorpay UPI/Cards payments, Cyber Treasury e-Grass challan generation, and 1-click statutory appellate filing under GRTSA 2013 directly to the Sub-Divisional Magistrate.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519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Explanation &amp; Live Demonstration Repository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Codebase: https://github.com/hkPateL26/GDG.git  |  Demonstration Video Link: http://bit.ly/nagrikseva-demo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Dept, Govt. of Gujarat • SSIP 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0" y="45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CODE: PS0001  |  TEAM ID: TM000826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Pipeline • Technical Architecture || Methodology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801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984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3075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Super-App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67335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PWA with 16 languages, Aadhaar 2FA, MeriPehchaan SSO, and Gujarati Voice Assistant.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2801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2984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77640" y="13075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DigiLocker Rule 9A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167335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retrieval of verified legal electronic documents directly from DigiLocker repository URIs.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2801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2984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3075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Vision OCR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167335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pre-audit checking document blur, official state seal/emblem, and phonetic name match.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06324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081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30906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&amp; e-Grass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45643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fee payment via Razorpay (Live &amp; Test Sandbox: UPI/GPay/Cards) with Cyber Treasury 14-digit CRN &amp; barcode.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06324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3081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77640" y="30906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&amp; Resilient Cache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83280" y="345643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API routes with L1 in-memory LRU + Upstash Redis (&lt;0.8ms) &amp; non-blocking Firestore.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12648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306324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081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30906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Officer Desk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63640" y="345643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-&gt; Collector -&gt; SDM -&gt; Mamlatdar -&gt; Talati with strict territorial RBAC &amp; e-Sign certificates.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Flow: Citizen Input -&gt; DigiLocker Fetch -&gt; AI Vision Pre-Audit -&gt; Razorpay (Live/Test) -&gt; Scrutiny Queue -&gt; SLA Watchdog -&gt; e-Sign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Dept, Govt. of Gujarat • SSIP 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0" y="45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CODE: PS0001  |  TEAM ID: TM000826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Readiness &amp; Dependencies • Technology Stack &amp; Feasibility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1627632" cy="3794760"/>
          </a:xfrm>
          <a:prstGeom prst="roundRect">
            <a:avLst>
              <a:gd name="adj" fmla="val 4494"/>
            </a:avLst>
          </a:prstGeom>
          <a:solidFill>
            <a:srgbClr val="F0F9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43000"/>
            <a:ext cx="1627632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887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Mobile PWA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1444752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Next.js 16.3.6 (Turbopack, App Router)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19.2.8 &amp; Tailwind CSS v4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PWA Service Worker (Offline Cache sw.js)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Touch Haptic Feedback Provider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React Icons (Gov Design Tokens)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084832" y="1143000"/>
            <a:ext cx="1627632" cy="3794760"/>
          </a:xfrm>
          <a:prstGeom prst="roundRect">
            <a:avLst>
              <a:gd name="adj" fmla="val 4494"/>
            </a:avLst>
          </a:prstGeom>
          <a:solidFill>
            <a:srgbClr val="FAF5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1143000"/>
            <a:ext cx="162763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2130552" y="11887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Vision &amp; Voice Engine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76272" y="1691640"/>
            <a:ext cx="1444752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2.5 Flash Multimodal Vision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@google/generative-ai (v0.24.1) &amp; Genkit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Speech API (Client Speech-to-Text)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Cloud Text-to-Speech (gu-IN)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Document Anti-Tampering Heuristics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803904" y="1143000"/>
            <a:ext cx="1627632" cy="3794760"/>
          </a:xfrm>
          <a:prstGeom prst="roundRect">
            <a:avLst>
              <a:gd name="adj" fmla="val 4494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1143000"/>
            <a:ext cx="1627632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3849624" y="11887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Serverless APIs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95344" y="1691640"/>
            <a:ext cx="1444752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 Serverless REST Route Handlers (/api/*)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Razorpay Payment Gateway (Live &amp; Test Sandbox Mode)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HMAC-SHA256 Webhook Verifier (webhook-verifier.ts)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Stateless HMAC-SHA256 Officer Sessions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Sliding-Window Rate Limiters &amp; RBAC Guards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522976" y="1143000"/>
            <a:ext cx="1627632" cy="3794760"/>
          </a:xfrm>
          <a:prstGeom prst="roundRect">
            <a:avLst>
              <a:gd name="adj" fmla="val 4494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22976" y="1143000"/>
            <a:ext cx="1627632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568696" y="11887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Edge Caching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14416" y="1691640"/>
            <a:ext cx="1444752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Upstash Redis &amp; L1 In-Memory LRU Cache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(5,000 capacity, &lt;0.8ms average latency)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Cloud Firestore (Admin SDK 14.5.0)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5,420 Pre-Seeded Gujarat Revenue Records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18,225 Village Cascading Geographic DB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242048" y="1143000"/>
            <a:ext cx="1627632" cy="3794760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2048" y="1143000"/>
            <a:ext cx="162763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7287768" y="11887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Regulatory Compliance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33488" y="1691640"/>
            <a:ext cx="1444752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Gujarat Right to Services Act (GRTSA 2013)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DigiLocker IT Act 2000 Rule 9A (Legal Records)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DPDP Act 2023 (Aadhaar 4-Digit Masking)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Cyber Treasury e-Grass 14-Digit CRN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Secret-Guarded Citizen Application Tracking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Dept, Govt. of Gujarat • SSIP 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0" y="45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CODE: PS0001  |  TEAM ID: TM000826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ASSESSMENT • SFIC SECTION 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Citizen Outcomes • Socio-Economic Impact &amp; Viability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Processing Turnaround Times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0391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Vision AI pre-scrutiny eliminates defective document submissions, slashing rejection rates from 42% to &lt;5%. Standard revenue certificates are issued in 24 to 48 hours against 7 to 15-day statutory limits.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0F9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80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₹350 - ₹500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Wage Loss Savings Per Application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0391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eliminating repeated 15-40 km travel to Jan Seva Kendras, daily-wage agricultural workers, construction laborers, and rural families save travel costs and prevent daily livelihood loss.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54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Eradication of Exploitative Middlemen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9136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1-click DigiLocker document pulls combined with authentic Gujarati voice AI guidance empower low-literacy citizens to submit applications independently without paying unauthorized tout fees.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AF5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54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0.941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Secretariat SLA Governance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9136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historical machine learning engine forecasts seasonal application surges (e.g., +5.4% monthly growth, 184,000 files) and flags taluka backlogs for proactive staff reallocation before SLA breaches occur.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Dept, Govt. of Gujarat • SSIP 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0" y="45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CODE: PS0001  |  TEAM ID: TM000826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TIMELINE • SFIC SECTION 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Field Rollout • Implementation Roadmap &amp; Milestones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2057400" cy="37947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618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Working Prototype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 (Completed)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57 welfare schemes &amp; 69 document services modeled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2.5 Flash Vision OCR pre-audit operational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DigiLocker Rule 9A &amp; Kutumb Family Ledger live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Razorpay Payment Gateway (Live &amp; Sandbox Test Mode) verified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5-Tier Officer Hierarchy Desk with e-Sign certificates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18,225 Gujarat villages cascading geo-database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build &amp; TypeScript compilation pass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14600" y="1143000"/>
            <a:ext cx="2057400" cy="37947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234440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2618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06040" y="1536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District-Level Field 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19385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– Dec 2026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219456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deployment across Rajkot District (Gondal, Lodhika, Kotda Sangani Talukas)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Jan Seva Kendra operator testing &amp; feedback loop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Field usability verification with 1,000+ rural citizens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Latency &amp; edge caching tuning for rural 4G networks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Collectorate administrative review &amp; sign-off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1143000"/>
            <a:ext cx="2057400" cy="37947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234440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618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54880" y="1536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State DPI Integration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19385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– Mar 2027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19456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NeGD API Setu production credentials activation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Gujarat Cyber Treasury e-Grass live payment gateway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AnyRoR 7/12 direct revenue database connectivity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Sandes / State SMS gateway integration for alerts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Data Centre (GSDC Gandhinagar) deployment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143000"/>
            <a:ext cx="2057400" cy="37947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1234440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2618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03720" y="1536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Statewide Scale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19385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2027 Onward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03720" y="219456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Statewide rollout across all 33 districts &amp; 250+ talukas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coverage of 18,225 Village Panchayats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with all Gujarat Secretariat departments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Machine Learning delay model retraining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Transition to zero-queue paperless public governance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Dept, Govt. of Gujarat • SSIP 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0" y="45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CODE: PS0001  |  TEAM ID: TM000826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CAPABILITIES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Multi-Disciplinary Team &amp; Mentorship • Ready for Jury Review &amp; Evaluation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2706624" cy="1481328"/>
          </a:xfrm>
          <a:prstGeom prst="roundRect">
            <a:avLst>
              <a:gd name="adj" fmla="val 4938"/>
            </a:avLst>
          </a:prstGeom>
          <a:solidFill>
            <a:srgbClr val="FFF7ED"/>
          </a:solidFill>
          <a:ln w="19050">
            <a:solidFill>
              <a:srgbClr val="FDBA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252728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27101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9264" y="1234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Patel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9264" y="145389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| Sem-1 MCA, Atmiya University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75488" y="1636776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System Architect &amp; AI Engineer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185623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system architecture, Google Gemini 2.5 Flash Vision OCR integration, Next.js 16 core, DPI framework design, and statutory GRTSA 2013 compliance mapping.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218688" y="1143000"/>
            <a:ext cx="2706624" cy="1481328"/>
          </a:xfrm>
          <a:prstGeom prst="roundRect">
            <a:avLst>
              <a:gd name="adj" fmla="val 4938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28416" y="1252728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3328416" y="127101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22192" y="1234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Jeet Jajal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22192" y="145389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| Sem-1 MCA, Atmiya University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328416" y="1636776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Full-Stack &amp; Cloud Infrastructure Engineer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328416" y="185623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REST API routes, Upstash Redis distributed caching (&lt;0.8ms), Firestore cloud persistence, stateless HMAC-SHA256 officer auth, and performance optimization.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071616" y="1143000"/>
            <a:ext cx="2706624" cy="1481328"/>
          </a:xfrm>
          <a:prstGeom prst="roundRect">
            <a:avLst>
              <a:gd name="adj" fmla="val 4938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1252728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181344" y="127101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75120" y="1234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Trusha Somaiya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145389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| Sem-1 MCA, Atmiya University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181344" y="1636776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Frontend UX &amp; Vernacular Interface Specialist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181344" y="185623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PWA design, authentic Gujarati typography, accessible Web Speech audio interfaces, touch haptic feedback, and Jan Seva Kendra citizen journey optimization.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365760" y="2734056"/>
            <a:ext cx="2706624" cy="1481328"/>
          </a:xfrm>
          <a:prstGeom prst="roundRect">
            <a:avLst>
              <a:gd name="adj" fmla="val 4938"/>
            </a:avLst>
          </a:prstGeom>
          <a:solidFill>
            <a:srgbClr val="FAF5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2843784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2862072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9264" y="28254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Dimple Parmar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9264" y="30449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| Sem-1 MCA, Atmiya University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75488" y="322783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&amp; Document Verification Analyst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75488" y="3447288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OCR validation pipeline, document clarity scoring heuristics, anti-tampering detection algorithms, and DigiLocker Rule 9A integration testing.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218688" y="2734056"/>
            <a:ext cx="2706624" cy="1481328"/>
          </a:xfrm>
          <a:prstGeom prst="roundRect">
            <a:avLst>
              <a:gd name="adj" fmla="val 4938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28416" y="2843784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3328416" y="2862072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22192" y="28254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Kruti Rabadiya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22192" y="30449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| Sem-1 MCA, Atmiya University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328416" y="322783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 &amp; Gujarat Geo-Engine Specialist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3328416" y="3447288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mapping of 33 districts, 250+ talukas, and 18,225 villages, Firestore collection schemas, in-memory LRU cache eviction, and query optimization.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071616" y="2734056"/>
            <a:ext cx="2706624" cy="1481328"/>
          </a:xfrm>
          <a:prstGeom prst="roundRect">
            <a:avLst>
              <a:gd name="adj" fmla="val 4938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81344" y="2843784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6181344" y="2862072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675120" y="28254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Chauhan Ayushi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30449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| Sem-1 MCA, Atmiya University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6181344" y="322783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QA, Legal Compliance &amp; Governance Researcher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6181344" y="3447288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Gujarat Right to Services Act (GRTSA 2013) statutory SLA audit, 57 welfare scheme rules analysis, 69 revenue services modeling, and automated test suites.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365760" y="440740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4622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MENTOR / ACADEMIC GUIDE: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8640" y="468172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Mentor: [Prof. / Dr. Full Name]  •  Department of Computer Science / MCA, Atmiya University, Rajkot, Gujarat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Atmiya University - NagrikSeva AI Team (TM000826)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NagrikSeva AI - Official Synopsis SFIC 2026</dc:title>
  <dc:subject>Seva First Innovation Challenge 2026 Synopsis Presentation</dc:subject>
  <dc:creator>Hari Patel</dc:creator>
  <cp:lastModifiedBy>Hari Patel</cp:lastModifiedBy>
  <cp:revision>1</cp:revision>
  <dcterms:created xsi:type="dcterms:W3CDTF">2026-10-15T12:47:02Z</dcterms:created>
  <dcterms:modified xsi:type="dcterms:W3CDTF">2026-10-15T12:47:02Z</dcterms:modified>
</cp:coreProperties>
</file>